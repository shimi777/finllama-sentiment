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06240"/>
            <a:ext cx="9144000" cy="4572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46304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Financial Instruction Tuning Help LLMs?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560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Replicating the sentiment-classification slice of Open-FinLLMs (Huang et al., 2024)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Presentation  ·  30 min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389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[Authors]   ·   LLMs in Finance Seminar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89204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in Finance Seminar  ·  Implementation Presentation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5486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188720" y="13258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and setup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88720" y="166420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question, scope, reproducibility note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0" y="144475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5-7 min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57400"/>
            <a:ext cx="5486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0574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188720" y="21031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and experimental design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24414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Datasets, models, prompts, matrix, defenses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0" y="222199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8-10 min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834640"/>
            <a:ext cx="5486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8346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188720" y="28803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and error analysis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88720" y="321868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numbers, per-class behavior, concrete cases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0" y="299923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10-12 min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611880"/>
            <a:ext cx="5486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6118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1188720" y="36576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88720" y="39959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Reproducibility, prompt sensitivity, what we'd change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0" y="377647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3-5 min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0"/>
            <a:ext cx="1280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2011680" y="182880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and setup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2011680" y="27432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set out to test, and why it matters.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89204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in Finance Seminar  ·  Implementation Presentation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Open-FinLLMs (Huang et al., 2024) claims financial instruction tuning improves financial NLP.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8229600" cy="146304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5544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TheFinAI's financial instruction tuning beat the LLaMA-family base it was built on?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Specifically, on sentiment classification — and how does it compare to classical baselines (FinBERT, VADER) and other 7-8B general-purpose LLMs (Mistral, Qwen2.5)?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10896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only — no fine-tuning, no multimodal, no trading simulation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prompt templates × {0, 3}-shot — quantify prompt sensitivity, not pick the best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datasets: Financial PhraseBank (FPB) and FiQA-SA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models in the comparison; reported metrics: F1-macro, accuracy, parsing coverage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89204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in Finance Seminar  ·  Implementation Presentation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 note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 since the paper, and what we did about it.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8229600" cy="54864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600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in the paper, TheFinAI/FinLLaMA-instruct, has been unpublished by the authors.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82296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substitute TheFinAI/plutus-8B-instruct (Feb 2025) — the same group's current 8B financial-instruction-tuned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architecture (LLaMA-3 8B), same research direction, same goal: beat the base on financial NLP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itself is a finding: LLM benchmarks are fragile when the artifact under test can disappear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document the swap in our slides and report and re-run will be possible if FinLLaMA-instruct returns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0"/>
            <a:ext cx="1280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2011680" y="182880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and experimental design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011680" y="27432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Pipeline, datasets, models, prompts, defenses against leakage.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89204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in Finance Seminar  ·  Implementation Presentation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unified Sample schema; every downstream stage is dataset-agnostic.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554480"/>
            <a:ext cx="1554480" cy="91440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645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data_loader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20116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FPB + FiQA → unified dicts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920240" y="2011680"/>
            <a:ext cx="13716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057400" y="1554480"/>
            <a:ext cx="1554480" cy="91440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57400" y="1645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057400" y="20116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 A/B + few-shot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11880" y="2011680"/>
            <a:ext cx="13716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749040" y="1554480"/>
            <a:ext cx="1554480" cy="91440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49040" y="1645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runner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749040" y="20116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T4 (LLMs) or CPU (baselines)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303520" y="2011680"/>
            <a:ext cx="13716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440680" y="1554480"/>
            <a:ext cx="1554480" cy="91440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40680" y="1645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40680" y="20116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label or null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995160" y="2011680"/>
            <a:ext cx="13716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132320" y="1554480"/>
            <a:ext cx="1554480" cy="91440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0" y="1645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132320" y="20116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F1m / accuracy / coverage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Per-run directory: meta.json + predictions.jsonl + progress.json — checkpoint/resume built in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ID schema: {model}__{dataset}__{template}__{shots}shot__seed{seed}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Volume caches HF weights — multi-GB download paid only once across the project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tracked separately so parse failures aren't force-mapped to 'neutral'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89204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in Finance Seminar  ·  Implementation Presentation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financial-sentiment benchmarks with different difficulty profiles.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63040"/>
          <a:ext cx="84124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737360"/>
                <a:gridCol w="1920240"/>
                <a:gridCol w="2011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Financial PhraseBank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Malo et al. 2014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690 test (sentences_75agree)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 / neu / pos (3-class)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Annotator agreement ≥ 75% — clean test signal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FiQA-SA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FiQA 2018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1,173 test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∈ [-1, 1] → 3-class with ±0.10 band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Headlines + posts; noisier text, harder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320040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matrix uses a 300-sample subsample per dataset (Modal time budget); baselines use full test sets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pool: only FPB train (FiQA has no train split) — preserves test purity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 caveat: both datasets predate every LLM here by 7-12 years and were almost certainly seen at pretraining time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89204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in Finance Seminar  ·  Implementation Presentation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models across three families: financial-tuned, general 7-8B LLM, and classical.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63040"/>
          <a:ext cx="84124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468880"/>
                <a:gridCol w="146304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 /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included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Financial-tuned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TheFinAI/plutus-8B-instruct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8B · LLaMA-3, 4-bit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Focal model — successor to FinLLaMA-instruct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General-purpose LLM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mistralai/Mistral-7B-Instruct-v0.3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7B · 4-bit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LLaMA-family-like comparator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General-purpose LLM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Qwen/Qwen2.5-7B-Instruct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7B · 4-bit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 open instruct baseline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Classical specialised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ProsusAI/finbert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110M · BERT classifier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Domain-specific small model — strong on FPB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Classical lexicon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Rule-based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Cheap floor — what does no learning give you?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6177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LLMs run in 4-bit on a single Modal T4 (16GB VRAM). LLaMA-3.1-8B-Instruct skipped — gated, no access yet.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89204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in Finance Seminar  ·  Implementation Presentation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prompt templates (pre-registered)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templates is enough to measure prompt sensitivity — we don't pick the best, we report both.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371600"/>
            <a:ext cx="4114800" cy="320040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4173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A — minimalist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783080"/>
            <a:ext cx="38404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Classify the sentiment of the following financial text as positive, negative, or neutral.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Text: {text}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Sentiment: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371600"/>
            <a:ext cx="4114800" cy="320040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4173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B — structured + definitions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783080"/>
            <a:ext cx="38404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 are a financial analyst…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Positive: favorable conditions, growth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Negative: unfavorable, losses, risks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Neutral: factual without clear implication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Text: {text}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Answer with one word only: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89204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in Finance Seminar  ·  Implementation Presentation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matrix and defenses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LLM runs (3 models × 2 datasets × 2 templates × {0, 3}-shot) + 4 baseline runs.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82296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decode (temperature=0, do_sample=False) — same input ⇒ same output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locked to 42 for every random draw: subsample, few-shot pick, baselines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pool drawn only from FPB train — never from test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prompt templates pre-registered — both reported, neither selected post-hoc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as first-class metric — parse failures excluded from F1, not force-mapped to 'neutral'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parser with synonym map (bullish/bearish/optimistic…) — case-insensitive, first-match wins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3931920"/>
            <a:ext cx="8229600" cy="73152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4023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metrics: F1-macro (primary), accuracy, F1-weighted, per-class precision/recall, confusion matrix, parsing coverage, runtime.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0"/>
            <a:ext cx="1280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2011680" y="182880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and error analysis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2011680" y="27432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numbers, where models break, and concrete examples.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89204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in Finance Seminar  ·  Implementation Presentation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Headline: F1-macro by model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configuration per model on each dataset. Bigger = better.</a:t>
            </a:r>
            <a:endParaRPr lang="en-US" sz="1300" dirty="0"/>
          </a:p>
        </p:txBody>
      </p:sp>
      <p:pic>
        <p:nvPicPr>
          <p:cNvPr id="6" name="Image 0" descr="C:\python_projects\finllama-sentiment\presentation\key_figures\f1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80160"/>
            <a:ext cx="7680960" cy="3200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46177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results/summary/final_table.csv  ·  Re-render with scripts/make_figures.py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89204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in Finance Seminar  ·  Implementation Presentation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numbers — fill from final_table.csv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F1-macro per model × dataset. [NUM] placeholders are filled from the live results table.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3716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FPB · F1-macro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FPB · Accuracy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FiQA · F1-macro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FiQA · Accuracy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plutus-8B-instruct (focal)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[NUM]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[NUM]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[NUM]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[NUM]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Mistral-7B-Instruct-v0.3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[NUM]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[NUM]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[NUM]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[NUM]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Qwen2.5-7B-Instruct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[NUM]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[NUM]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[NUM]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[NUM]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FinBERT (specialised classifier)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[NUM]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[NUM]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[NUM]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[NUM]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VADER (lexicon)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[NUM]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[NUM]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[NUM]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[NUM]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6177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live numbers from results/summary/final_table.csv (visible in the dashboard at :8502).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89204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in Finance Seminar  ·  Implementation Presentation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Per-class F1 — Financial PhraseBank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Class-level numbers expose hidden weaknesses an overall F1 can hide.</a:t>
            </a:r>
            <a:endParaRPr lang="en-US" sz="1300" dirty="0"/>
          </a:p>
        </p:txBody>
      </p:sp>
      <p:pic>
        <p:nvPicPr>
          <p:cNvPr id="6" name="Image 0" descr="C:\python_projects\finllama-sentiment\presentation\key_figures\per_class_f1_FP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280160"/>
            <a:ext cx="64008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89204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in Finance Seminar  ·  Implementation Presentation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Per-class F1 — FiQA-SA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any class-specific gap between the financial model and the general LLMs.</a:t>
            </a:r>
            <a:endParaRPr lang="en-US" sz="1300" dirty="0"/>
          </a:p>
        </p:txBody>
      </p:sp>
      <p:pic>
        <p:nvPicPr>
          <p:cNvPr id="6" name="Image 0" descr="C:\python_projects\finllama-sentiment\presentation\key_figures\per_class_f1_FiQ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280160"/>
            <a:ext cx="64008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89204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in Finance Seminar  ·  Implementation Presentation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matrices — best config per model × dataset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Rows: true label  ·  Columns: predicted label  ·  Look for systematic mistakes.</a:t>
            </a:r>
            <a:endParaRPr lang="en-US" sz="1300" dirty="0"/>
          </a:p>
        </p:txBody>
      </p:sp>
      <p:pic>
        <p:nvPicPr>
          <p:cNvPr id="6" name="Image 0" descr="C:\python_projects\finllama-sentiment\presentation\key_figures\confusion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822960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89204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in Finance Seminar  ·  Implementation Presentation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effect — does the financial model need fewer examples?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ΔF1-macro when going from 0-shot to 3-shot. If the focal model gains less, its tuning already encodes the task.</a:t>
            </a:r>
            <a:endParaRPr lang="en-US" sz="1300" dirty="0"/>
          </a:p>
        </p:txBody>
      </p:sp>
      <p:pic>
        <p:nvPicPr>
          <p:cNvPr id="6" name="Image 0" descr="C:\python_projects\finllama-sentiment\presentation\key_figures\fewshot_effe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280160"/>
            <a:ext cx="731520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89204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in Finance Seminar  ·  Implementation Presentation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coverage — does the model follow the format?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~95% is a flag. Coverage is reported separately so we don't paper over format failures.</a:t>
            </a:r>
            <a:endParaRPr lang="en-US" sz="1300" dirty="0"/>
          </a:p>
        </p:txBody>
      </p:sp>
      <p:pic>
        <p:nvPicPr>
          <p:cNvPr id="6" name="Image 0" descr="C:\python_projects\finllama-sentiment\presentation\key_figures\coverage_heat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280160"/>
            <a:ext cx="731520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89204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in Finance Seminar  ·  Implementation Presentation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 cases — pulled from the dashboard 'Highlights' tab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card shows one sample, the gold label, and how each model classified it.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40233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73152" cy="155448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44475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Focal wins, generals miss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1755648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[paste sample text]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Gold: positive  ·  plutus-8B: positive  ·  Mistral: neutral  ·  Qwen2.5: neutral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371600"/>
            <a:ext cx="40233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371600"/>
            <a:ext cx="73152" cy="155448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144475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Generals win, focal misses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46320" y="1755648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[paste sample text]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Gold: negative  ·  Mistral: negative  ·  plutus-8B: neutral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40233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108960"/>
            <a:ext cx="73152" cy="155448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1821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template flips a model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3493008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[paste sample text]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A → positive  ·  Template B → negative  (same model, same shots)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3108960"/>
            <a:ext cx="40233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3108960"/>
            <a:ext cx="73152" cy="155448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31821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misses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46320" y="3493008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[paste sample text]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Gold: neutral  ·  All models predicted: positive (likely a calm-news-defaults-positive bias)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89204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in Finance Seminar  ·  Implementation Presentation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categories — focal model misses (hand-categorized)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results/summary/focal_error_sample.csv, fill the 'category' column, paste the breakdown here.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— model treats a negated negative as positive (e.g. 'did not miss expectations')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 reasoning — small revenue beat treated as 'positive' on noise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jargon / ambiguity — regulator commentary, hedged policy language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Factual neutrals → mistaken for positive — calm news flagged as upbeat by default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[+ any additional category that emerges during your hand review]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3931920"/>
            <a:ext cx="8229600" cy="73152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4023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when hand-tagging, look for cases where plutus-8B is right but Mistral/Qwen are wrong — those are the real evidence for or against the financial-tuning hypothesis.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0"/>
            <a:ext cx="1280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2011680" y="182880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2011680" y="27432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Reproducibility, prompt sensitivity, and what we'd do differently.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89204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in Finance Seminar  ·  Implementation Presentation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lessons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82296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73152" cy="603504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316736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 cost is real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57276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→ script split, run-dir schema with checkpoint/resume, parser as a tested module, Modal Volume for cached weights — without these, a 12-run matrix isn't redoable.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956816"/>
            <a:ext cx="82296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956816"/>
            <a:ext cx="73152" cy="603504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993392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can vanish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249424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TheFinAI/FinLLaMA-instruct was unpublished between paper and our run. Benchmark results are only as durable as the artifacts they reference.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633472"/>
            <a:ext cx="82296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633472"/>
            <a:ext cx="73152" cy="603504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67004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sensitivity ≥ model choice (often)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292608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ΔF1 between Template A and B was [NUM] points — comparable to gaps between models. Single-prompt LLM benchmarks should not be trusted.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82296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310128"/>
            <a:ext cx="73152" cy="603504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346704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matters more than people report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602736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Force-mapping parse failures to 'neutral' would overstate accuracy by [NUM] points. Most papers don't report it.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986784"/>
            <a:ext cx="82296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3986784"/>
            <a:ext cx="73152" cy="603504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023360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leakage caveat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4279392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FPB (2014) and FiQA (2018) almost certainly leaked into pretraining. Numbers here are an upper bound on real-world generalisation — a 2025 hold-out would be the honest test.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89204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in Finance Seminar  ·  Implementation Presentation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we'd do differently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2025 financial-news held-out set to break leakage from FPB/FiQA pretraining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three or four prompt templates instead of two — make sensitivity even more legible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 LLM-as-judge sanity pass over a 100-sample slice — catch label noise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few-shot examples drawn from the same dataset as the test (when available) — closer to real deployment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a smaller financial model (e.g. finma-7b) and a non-financial 8B baseline of the same era for a tighter family comparison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06240"/>
            <a:ext cx="9144000" cy="4572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7315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a one-sentence answer to the research question once the matrix completes — e.g. 'Financial instruction tuning gave plutus-8B a [NUM]-point F1 edge over the strongest general 7B LLM on FPB, but the small specialised FinBERT still outperformed every 8B model on this in-domain task.']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takeaways for the audience to remember: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3703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[primary takeaway — fill in once you have the numbers]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[secondary takeaway — likely about prompt sensitivity or reproducibility]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548640" y="23774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 · github.com/shimi777/finllama-sentiment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4348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dashboard · localhost:8502  (run dashboard/run.bat)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Does Financial Instruction Tuning Help LLMs?</dc:title>
  <dc:subject>PptxGenJS Presentation</dc:subject>
  <dc:creator>LLMs in Finance Seminar</dc:creator>
  <cp:lastModifiedBy>LLMs in Finance Seminar</cp:lastModifiedBy>
  <cp:revision>1</cp:revision>
  <dcterms:created xsi:type="dcterms:W3CDTF">2026-05-03T23:26:08Z</dcterms:created>
  <dcterms:modified xsi:type="dcterms:W3CDTF">2026-05-03T23:26:08Z</dcterms:modified>
</cp:coreProperties>
</file>